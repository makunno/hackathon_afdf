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14" autoAdjust="0"/>
    <p:restoredTop sz="94660"/>
  </p:normalViewPr>
  <p:slideViewPr>
    <p:cSldViewPr snapToGrid="0">
      <p:cViewPr varScale="1">
        <p:scale>
          <a:sx n="55" d="100"/>
          <a:sy n="55" d="100"/>
        </p:scale>
        <p:origin x="1096" y="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409243-966F-47F4-A05B-923C5E06C01D}" type="datetimeFigureOut">
              <a:rPr lang="en-IN" smtClean="0"/>
              <a:t>03-03-2026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B03673-4BB5-48B6-A7E2-BBA9433FA750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92303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409243-966F-47F4-A05B-923C5E06C01D}" type="datetimeFigureOut">
              <a:rPr lang="en-IN" smtClean="0"/>
              <a:t>03-03-2026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B03673-4BB5-48B6-A7E2-BBA9433FA7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99153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409243-966F-47F4-A05B-923C5E06C01D}" type="datetimeFigureOut">
              <a:rPr lang="en-IN" smtClean="0"/>
              <a:t>03-03-2026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B03673-4BB5-48B6-A7E2-BBA9433FA750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494488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409243-966F-47F4-A05B-923C5E06C01D}" type="datetimeFigureOut">
              <a:rPr lang="en-IN" smtClean="0"/>
              <a:t>03-03-2026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B03673-4BB5-48B6-A7E2-BBA9433FA7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19747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409243-966F-47F4-A05B-923C5E06C01D}" type="datetimeFigureOut">
              <a:rPr lang="en-IN" smtClean="0"/>
              <a:t>03-03-2026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B03673-4BB5-48B6-A7E2-BBA9433FA7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98867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409243-966F-47F4-A05B-923C5E06C01D}" type="datetimeFigureOut">
              <a:rPr lang="en-IN" smtClean="0"/>
              <a:t>03-03-2026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B03673-4BB5-48B6-A7E2-BBA9433FA7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93555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409243-966F-47F4-A05B-923C5E06C01D}" type="datetimeFigureOut">
              <a:rPr lang="en-IN" smtClean="0"/>
              <a:t>03-03-2026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B03673-4BB5-48B6-A7E2-BBA9433FA7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13769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71409243-966F-47F4-A05B-923C5E06C01D}" type="datetimeFigureOut">
              <a:rPr lang="en-IN" smtClean="0"/>
              <a:t>03-03-2026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7B03673-4BB5-48B6-A7E2-BBA9433FA7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73148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409243-966F-47F4-A05B-923C5E06C01D}" type="datetimeFigureOut">
              <a:rPr lang="en-IN" smtClean="0"/>
              <a:t>03-03-2026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B03673-4BB5-48B6-A7E2-BBA9433FA7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3375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409243-966F-47F4-A05B-923C5E06C01D}" type="datetimeFigureOut">
              <a:rPr lang="en-IN" smtClean="0"/>
              <a:t>03-03-2026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B03673-4BB5-48B6-A7E2-BBA9433FA7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85551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409243-966F-47F4-A05B-923C5E06C01D}" type="datetimeFigureOut">
              <a:rPr lang="en-IN" smtClean="0"/>
              <a:t>03-03-2026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B03673-4BB5-48B6-A7E2-BBA9433FA7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52942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71409243-966F-47F4-A05B-923C5E06C01D}" type="datetimeFigureOut">
              <a:rPr lang="en-IN" smtClean="0"/>
              <a:t>03-03-2026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07B03673-4BB5-48B6-A7E2-BBA9433FA750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265383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C40565-00DD-A902-DD59-9773656598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66800" y="998002"/>
            <a:ext cx="10058400" cy="2430998"/>
          </a:xfrm>
        </p:spPr>
        <p:txBody>
          <a:bodyPr/>
          <a:lstStyle/>
          <a:p>
            <a:pPr algn="ctr"/>
            <a:r>
              <a:rPr lang="en-IN" b="1" dirty="0">
                <a:solidFill>
                  <a:schemeClr val="accent2"/>
                </a:solidFill>
              </a:rPr>
              <a:t>AFDF: Anti-Forensic Detection Framework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536EB90-7963-4F0A-F9C1-BAC1C9CF8F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66800" y="4716998"/>
            <a:ext cx="10058400" cy="1143000"/>
          </a:xfrm>
        </p:spPr>
        <p:txBody>
          <a:bodyPr>
            <a:normAutofit fontScale="92500" lnSpcReduction="10000"/>
          </a:bodyPr>
          <a:lstStyle/>
          <a:p>
            <a:pPr algn="ctr"/>
            <a:r>
              <a:rPr lang="en-US" b="1" dirty="0"/>
              <a:t>An AI-Powered Web-Based Digital Forensics Tool for Detecting Evidence Tampering and Hidden Volumes</a:t>
            </a:r>
          </a:p>
          <a:p>
            <a:pPr algn="ctr"/>
            <a:r>
              <a:rPr lang="en-US" b="1" dirty="0"/>
              <a:t>Presented by </a:t>
            </a:r>
            <a:r>
              <a:rPr lang="en-US" sz="2600" b="1" dirty="0">
                <a:solidFill>
                  <a:srgbClr val="00B0F0"/>
                </a:solidFill>
              </a:rPr>
              <a:t>TRAILBLAZERS</a:t>
            </a:r>
            <a:endParaRPr lang="en-IN" sz="2600" b="1" dirty="0">
              <a:solidFill>
                <a:srgbClr val="00B0F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BC7CA0E-F15F-D27B-D318-A6A823588C28}"/>
              </a:ext>
            </a:extLst>
          </p:cNvPr>
          <p:cNvSpPr txBox="1"/>
          <p:nvPr/>
        </p:nvSpPr>
        <p:spPr>
          <a:xfrm>
            <a:off x="566056" y="459393"/>
            <a:ext cx="1086394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chemeClr val="tx2"/>
                </a:solidFill>
              </a:rPr>
              <a:t>INDIRA GANDHI DELHI TECHNICAL UNIVERSITY FOR WOMEN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C2427E1-4BC3-3496-64A5-39C4FF3BAE72}"/>
              </a:ext>
            </a:extLst>
          </p:cNvPr>
          <p:cNvSpPr/>
          <p:nvPr/>
        </p:nvSpPr>
        <p:spPr>
          <a:xfrm>
            <a:off x="-38100" y="6259286"/>
            <a:ext cx="12268200" cy="707571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92226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1221F2-677D-E857-2158-58C34AB4A6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362803"/>
            <a:ext cx="10058400" cy="1450757"/>
          </a:xfrm>
        </p:spPr>
        <p:txBody>
          <a:bodyPr/>
          <a:lstStyle/>
          <a:p>
            <a:pPr algn="ctr"/>
            <a:r>
              <a:rPr lang="en-IN" b="1" dirty="0">
                <a:solidFill>
                  <a:schemeClr val="accent2"/>
                </a:solidFill>
              </a:rPr>
              <a:t>Problem Statement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BC9B51D-D83C-9923-D7A4-A8408E8CA2B2}"/>
              </a:ext>
            </a:extLst>
          </p:cNvPr>
          <p:cNvSpPr txBox="1"/>
          <p:nvPr/>
        </p:nvSpPr>
        <p:spPr>
          <a:xfrm>
            <a:off x="1097280" y="1947038"/>
            <a:ext cx="1005840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Key Issues: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Hidden Volumes: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Encrypted partitions that blend into "random" disk noise.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Wiping: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Intentional overwriting (Zero/FF/Random) to prevent recovery.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Evidence Tampering: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Modification of file headers or metadata to mislead investigators.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323BD3C-141A-9747-6EA5-C60F50909B93}"/>
              </a:ext>
            </a:extLst>
          </p:cNvPr>
          <p:cNvSpPr/>
          <p:nvPr/>
        </p:nvSpPr>
        <p:spPr>
          <a:xfrm>
            <a:off x="-7620" y="6324601"/>
            <a:ext cx="12268200" cy="707571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19775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21E4ED-5287-6DEC-EDC2-8D67AEE5EC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4D7A84-68FA-6B40-EC19-7A760379C5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362803"/>
            <a:ext cx="10058400" cy="1450757"/>
          </a:xfrm>
        </p:spPr>
        <p:txBody>
          <a:bodyPr/>
          <a:lstStyle/>
          <a:p>
            <a:pPr algn="ctr"/>
            <a:r>
              <a:rPr lang="en-IN" b="1" dirty="0">
                <a:solidFill>
                  <a:schemeClr val="accent2"/>
                </a:solidFill>
              </a:rPr>
              <a:t>Project Overview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1651F26-2F13-3FDE-FBDB-0F04137B705D}"/>
              </a:ext>
            </a:extLst>
          </p:cNvPr>
          <p:cNvSpPr txBox="1"/>
          <p:nvPr/>
        </p:nvSpPr>
        <p:spPr>
          <a:xfrm>
            <a:off x="1097280" y="1859340"/>
            <a:ext cx="9939020" cy="4339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AFDF is a web-based forensic engine designed to analyze disk images for hidden data and wipe patterns.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accent2"/>
                </a:solidFill>
                <a:effectLst/>
                <a:latin typeface="Arial" panose="020B0604020202020204" pitchFamily="34" charset="0"/>
              </a:rPr>
              <a:t>Core Pillars: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Statistical Analysis: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Deep entropy and frequency scanning.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Machine Learning: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Automated classification of disk regions.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Tool Integration: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Leveraging industry-standard engines like The Sleuth Kit.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Target Users: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Law Enforcement (LEAs), Corporate Incident Response (IR), and Security Auditors.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3C9B9AA-22F4-61FF-51F0-95429F04BBD5}"/>
              </a:ext>
            </a:extLst>
          </p:cNvPr>
          <p:cNvSpPr/>
          <p:nvPr/>
        </p:nvSpPr>
        <p:spPr>
          <a:xfrm>
            <a:off x="-7620" y="6313715"/>
            <a:ext cx="12268200" cy="707571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16073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ACDA1FD-A71A-A8C3-125B-15B868A3CD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AE1AF813-2D2F-4B78-9216-388AF161ED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47181D2-95D5-4439-9BDF-14D4FDC7BD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8671BE4-83A0-F60E-D2D2-9953045517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396" b="16691"/>
          <a:stretch>
            <a:fillRect/>
          </a:stretch>
        </p:blipFill>
        <p:spPr>
          <a:xfrm>
            <a:off x="20" y="10"/>
            <a:ext cx="12191980" cy="6743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58759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91E73AD-803B-EB6B-3114-92B828F98A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0" name="Rectangle 5149">
            <a:extLst>
              <a:ext uri="{FF2B5EF4-FFF2-40B4-BE49-F238E27FC236}">
                <a16:creationId xmlns:a16="http://schemas.microsoft.com/office/drawing/2014/main" id="{AE1AF813-2D2F-4B78-9216-388AF161ED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5152" name="Rectangle 5151">
            <a:extLst>
              <a:ext uri="{FF2B5EF4-FFF2-40B4-BE49-F238E27FC236}">
                <a16:creationId xmlns:a16="http://schemas.microsoft.com/office/drawing/2014/main" id="{C47181D2-95D5-4439-9BDF-14D4FDC7BD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ED5C00C-DAA4-B70D-FE02-DA176A72053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2225"/>
          <a:stretch>
            <a:fillRect/>
          </a:stretch>
        </p:blipFill>
        <p:spPr>
          <a:xfrm>
            <a:off x="76220" y="-8792"/>
            <a:ext cx="12191980" cy="6340632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20586F1A-D56B-7741-69EF-74546B658A10}"/>
              </a:ext>
            </a:extLst>
          </p:cNvPr>
          <p:cNvSpPr/>
          <p:nvPr/>
        </p:nvSpPr>
        <p:spPr>
          <a:xfrm>
            <a:off x="0" y="6204859"/>
            <a:ext cx="12268200" cy="707571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6996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31FC2D-4004-4B15-E86A-CCBED277FF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E9C84B-C4BF-7641-A6B2-32960A5A53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362803"/>
            <a:ext cx="10058400" cy="1450757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accent2"/>
                </a:solidFill>
              </a:rPr>
              <a:t>Deep Dive: Entropy &amp; Wipe Detection</a:t>
            </a:r>
            <a:endParaRPr lang="en-IN" b="1" dirty="0">
              <a:solidFill>
                <a:schemeClr val="accent2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0CFF9E4-8DB6-70CE-F8D3-25633686C5FC}"/>
              </a:ext>
            </a:extLst>
          </p:cNvPr>
          <p:cNvSpPr txBox="1"/>
          <p:nvPr/>
        </p:nvSpPr>
        <p:spPr>
          <a:xfrm>
            <a:off x="1097280" y="1999040"/>
            <a:ext cx="1005840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Entropy Analysis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: Shannon entropy measures data randomness on a 0–8 scale to identify hidden encrypted volumes.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Data Indicators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: High entropy (7.5–8.0) suggests encryption or compression, while low entropy (0–2) indicates zeros or padding.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Wipe Recognition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: Automatically detects Zero-fill (0x00), FF-fill (0xFF), and Random-wipe patterns (Entropy &gt; 7.6) in unallocated space.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AB5A148-59C4-C524-4CC0-33C44128CB1C}"/>
              </a:ext>
            </a:extLst>
          </p:cNvPr>
          <p:cNvSpPr/>
          <p:nvPr/>
        </p:nvSpPr>
        <p:spPr>
          <a:xfrm>
            <a:off x="-38100" y="6259286"/>
            <a:ext cx="12268200" cy="707571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5143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68C655-96A3-7D3C-49DF-9162B81F91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8DA578-DB7B-84FF-6C96-A5E1DAE04A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362803"/>
            <a:ext cx="10058400" cy="1450757"/>
          </a:xfrm>
        </p:spPr>
        <p:txBody>
          <a:bodyPr/>
          <a:lstStyle/>
          <a:p>
            <a:pPr algn="ctr"/>
            <a:r>
              <a:rPr lang="en-IN" b="1" dirty="0">
                <a:solidFill>
                  <a:schemeClr val="accent2"/>
                </a:solidFill>
              </a:rPr>
              <a:t>Machine Learning &amp; Forensics Integration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7190642-338A-8D3B-B7C8-1ADB17BF2004}"/>
              </a:ext>
            </a:extLst>
          </p:cNvPr>
          <p:cNvSpPr txBox="1"/>
          <p:nvPr/>
        </p:nvSpPr>
        <p:spPr>
          <a:xfrm>
            <a:off x="1097280" y="1828332"/>
            <a:ext cx="10058400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1" i="0" strike="noStrike" cap="none" normalizeH="0" baseline="0" dirty="0">
                <a:ln>
                  <a:noFill/>
                </a:ln>
                <a:solidFill>
                  <a:schemeClr val="accent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The Model</a:t>
            </a:r>
            <a:r>
              <a:rPr kumimoji="0" lang="en-US" altLang="en-US" sz="2000" b="0" i="0" strike="noStrike" cap="none" normalizeH="0" baseline="0" dirty="0">
                <a:ln>
                  <a:noFill/>
                </a:ln>
                <a:solidFill>
                  <a:schemeClr val="accent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Utilizes a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Random Forest Classifier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to analyze features like Chi-square values, byte frequency, and null-byte ratios.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1" i="0" strike="noStrike" cap="none" normalizeH="0" baseline="0" dirty="0">
                <a:ln>
                  <a:noFill/>
                </a:ln>
                <a:solidFill>
                  <a:schemeClr val="accent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Classification</a:t>
            </a:r>
            <a:r>
              <a:rPr kumimoji="0" lang="en-US" altLang="en-US" sz="2000" b="0" i="0" strike="noStrike" cap="none" normalizeH="0" baseline="0" dirty="0">
                <a:ln>
                  <a:noFill/>
                </a:ln>
                <a:solidFill>
                  <a:schemeClr val="accent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Automatically flags disk regions as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Authentic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Tampered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or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Questionable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with a confidence score.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1" i="0" strike="noStrike" cap="none" normalizeH="0" baseline="0" dirty="0">
                <a:ln>
                  <a:noFill/>
                </a:ln>
                <a:solidFill>
                  <a:schemeClr val="accent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Tooling</a:t>
            </a:r>
            <a:r>
              <a:rPr kumimoji="0" lang="en-US" altLang="en-US" sz="2000" b="0" i="0" strike="noStrike" cap="none" normalizeH="0" baseline="0" dirty="0">
                <a:ln>
                  <a:noFill/>
                </a:ln>
                <a:solidFill>
                  <a:schemeClr val="accent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Integrates industry-standard tools from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The Sleuth Kit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mmls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fsstat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fls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blkls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) for metadata and partition mapping.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1" i="0" strike="noStrike" cap="none" normalizeH="0" baseline="0" dirty="0">
                <a:ln>
                  <a:noFill/>
                </a:ln>
                <a:solidFill>
                  <a:schemeClr val="accent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Artifacts</a:t>
            </a:r>
            <a:r>
              <a:rPr kumimoji="0" lang="en-US" altLang="en-US" sz="2000" b="0" i="0" strike="noStrike" cap="none" normalizeH="0" baseline="0" dirty="0">
                <a:ln>
                  <a:noFill/>
                </a:ln>
                <a:solidFill>
                  <a:schemeClr val="accent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Automatically extracts emails, URLs, IP addresses, and deleted file entries using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bulk_extractor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Standards</a:t>
            </a:r>
            <a:r>
              <a:rPr lang="en-US" sz="200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Identifies traces of professional sanitization like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DoD 5220.22-M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Gutmann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FC6A2F7-4F23-6B25-5006-7A31FD3B2B10}"/>
              </a:ext>
            </a:extLst>
          </p:cNvPr>
          <p:cNvSpPr/>
          <p:nvPr/>
        </p:nvSpPr>
        <p:spPr>
          <a:xfrm>
            <a:off x="0" y="6229537"/>
            <a:ext cx="12268200" cy="707571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58771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30A376-EC80-4A28-7F64-1E856F9047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8993B-12EF-66D3-2DE8-831658D873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362803"/>
            <a:ext cx="10058400" cy="1450757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accent2"/>
                </a:solidFill>
              </a:rPr>
              <a:t>INVESTIGATOR FRIENDLY REPORT</a:t>
            </a:r>
            <a:endParaRPr lang="en-IN" b="1" dirty="0">
              <a:solidFill>
                <a:schemeClr val="accent2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22825E1-E651-84AC-F506-5C54A56693AE}"/>
              </a:ext>
            </a:extLst>
          </p:cNvPr>
          <p:cNvSpPr txBox="1"/>
          <p:nvPr/>
        </p:nvSpPr>
        <p:spPr>
          <a:xfrm>
            <a:off x="1097280" y="1920894"/>
            <a:ext cx="10058400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16-Section Report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Generates a comprehensive forensic document including Examiner Info, Chain of Custody, and Evidence Integrity.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Legal Readiness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Includes a formal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Examiner Declaration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and detailed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Timeline Reconstruction</a:t>
            </a: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Supported Images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Compatible with Raw bit-streams (.dd, .raw), EnCase (.E01), and Logical images (.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img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Integrity First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Every report includes MD5 and SHA256 hashes to prove the evidence remained untampered during analysis.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7C813D2-B6BE-4651-6523-4F65EE44A5C1}"/>
              </a:ext>
            </a:extLst>
          </p:cNvPr>
          <p:cNvSpPr/>
          <p:nvPr/>
        </p:nvSpPr>
        <p:spPr>
          <a:xfrm>
            <a:off x="-7620" y="6183212"/>
            <a:ext cx="12268200" cy="707571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30409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30C30C-D3DE-92A3-DDAF-EA8B1BCA6D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8CC329-FA74-67A7-D5FE-9C8F7D06DC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1580" y="-38100"/>
            <a:ext cx="10058400" cy="1450757"/>
          </a:xfrm>
        </p:spPr>
        <p:txBody>
          <a:bodyPr/>
          <a:lstStyle/>
          <a:p>
            <a:pPr algn="ctr"/>
            <a:r>
              <a:rPr lang="en-IN" b="1" dirty="0">
                <a:solidFill>
                  <a:schemeClr val="accent2"/>
                </a:solidFill>
              </a:rPr>
              <a:t>Conclusion &amp; Future Outlook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67F5177-C30F-5D73-9FF6-D6FA66816D77}"/>
              </a:ext>
            </a:extLst>
          </p:cNvPr>
          <p:cNvSpPr txBox="1"/>
          <p:nvPr/>
        </p:nvSpPr>
        <p:spPr>
          <a:xfrm>
            <a:off x="1211580" y="1978788"/>
            <a:ext cx="1005840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Summary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AFDF provides a "medical scanner" for hard drives, automating the detection of sophisticated anti-forensic techniques.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Key Value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Reduces manual hex-editing time and uncovers hidden data that traditional tools might miss.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Considerations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While powerful, performance depends on hardware and may face limitations with full-disk hardware encryption.</a:t>
            </a:r>
            <a:endParaRPr lang="en-US" altLang="en-US" sz="24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Next Steps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Continuous ML model training to adapt to emerging encryption and wiping methods.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93CC8A0-3458-1DEA-2A72-997EC29CCD8A}"/>
              </a:ext>
            </a:extLst>
          </p:cNvPr>
          <p:cNvSpPr/>
          <p:nvPr/>
        </p:nvSpPr>
        <p:spPr>
          <a:xfrm>
            <a:off x="0" y="6330571"/>
            <a:ext cx="12268200" cy="707571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32356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FCEFE1-F1B6-6542-1992-5A0F92C425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287028-06C0-6111-EBA9-86B2E20CEE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92285" y="3810000"/>
            <a:ext cx="4945380" cy="1069785"/>
          </a:xfrm>
        </p:spPr>
        <p:txBody>
          <a:bodyPr>
            <a:noAutofit/>
          </a:bodyPr>
          <a:lstStyle/>
          <a:p>
            <a:pPr algn="ctr"/>
            <a:r>
              <a:rPr lang="en-US" sz="7200" b="1" dirty="0">
                <a:solidFill>
                  <a:schemeClr val="accent2"/>
                </a:solidFill>
              </a:rPr>
              <a:t>THANK YOU </a:t>
            </a:r>
            <a:endParaRPr lang="en-IN" sz="7200" b="1" dirty="0">
              <a:solidFill>
                <a:schemeClr val="accent2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CBB98A6-A626-6DA8-D5E9-22F14410AF43}"/>
              </a:ext>
            </a:extLst>
          </p:cNvPr>
          <p:cNvSpPr txBox="1"/>
          <p:nvPr/>
        </p:nvSpPr>
        <p:spPr>
          <a:xfrm>
            <a:off x="1135378" y="1859340"/>
            <a:ext cx="100584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9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Q/A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3373FC2-551F-E639-E3FF-039E47319F4F}"/>
              </a:ext>
            </a:extLst>
          </p:cNvPr>
          <p:cNvSpPr/>
          <p:nvPr/>
        </p:nvSpPr>
        <p:spPr>
          <a:xfrm>
            <a:off x="0" y="6330571"/>
            <a:ext cx="12268200" cy="707571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635997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97</TotalTime>
  <Words>481</Words>
  <Application>Microsoft Office PowerPoint</Application>
  <PresentationFormat>Widescreen</PresentationFormat>
  <Paragraphs>54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Google Sans Text</vt:lpstr>
      <vt:lpstr>Retrospect</vt:lpstr>
      <vt:lpstr>AFDF: Anti-Forensic Detection Framework</vt:lpstr>
      <vt:lpstr>Problem Statement </vt:lpstr>
      <vt:lpstr>Project Overview</vt:lpstr>
      <vt:lpstr>PowerPoint Presentation</vt:lpstr>
      <vt:lpstr>PowerPoint Presentation</vt:lpstr>
      <vt:lpstr>Deep Dive: Entropy &amp; Wipe Detection</vt:lpstr>
      <vt:lpstr>Machine Learning &amp; Forensics Integration</vt:lpstr>
      <vt:lpstr>INVESTIGATOR FRIENDLY REPORT</vt:lpstr>
      <vt:lpstr>Conclusion &amp; Future Outlook</vt:lpstr>
      <vt:lpstr>THANK YOU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aditya singh</dc:creator>
  <cp:lastModifiedBy>aditya singh</cp:lastModifiedBy>
  <cp:revision>4</cp:revision>
  <dcterms:created xsi:type="dcterms:W3CDTF">2026-03-01T02:38:21Z</dcterms:created>
  <dcterms:modified xsi:type="dcterms:W3CDTF">2026-03-03T17:05:15Z</dcterms:modified>
</cp:coreProperties>
</file>